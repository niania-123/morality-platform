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57200"/>
            <a:ext cx="2286000" cy="228600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514600" y="493776"/>
            <a:ext cx="4114800" cy="2048256"/>
          </a:xfrm>
          <a:prstGeom prst="donut">
            <a:avLst/>
          </a:prstGeom>
          <a:solidFill>
            <a:srgbClr val="FF6B6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697480" y="596189"/>
            <a:ext cx="3749040" cy="1843430"/>
          </a:xfrm>
          <a:prstGeom prst="donut">
            <a:avLst/>
          </a:prstGeom>
          <a:solidFill>
            <a:srgbClr val="FFB347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880360" y="698602"/>
            <a:ext cx="3383280" cy="1638605"/>
          </a:xfrm>
          <a:prstGeom prst="donut">
            <a:avLst/>
          </a:prstGeom>
          <a:solidFill>
            <a:srgbClr val="FFD54F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63240" y="801014"/>
            <a:ext cx="3017520" cy="1433779"/>
          </a:xfrm>
          <a:prstGeom prst="donut">
            <a:avLst/>
          </a:prstGeom>
          <a:solidFill>
            <a:srgbClr val="81C78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246120" y="903427"/>
            <a:ext cx="2651760" cy="1228954"/>
          </a:xfrm>
          <a:prstGeom prst="donut">
            <a:avLst/>
          </a:prstGeom>
          <a:solidFill>
            <a:srgbClr val="64B5F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1005840"/>
            <a:ext cx="2286000" cy="1024128"/>
          </a:xfrm>
          <a:prstGeom prst="donut">
            <a:avLst/>
          </a:prstGeom>
          <a:solidFill>
            <a:srgbClr val="CE93D8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514600" y="1389888"/>
            <a:ext cx="1143000" cy="512064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1389888"/>
            <a:ext cx="1143000" cy="512064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26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undefined · 道德与法治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4389120"/>
            <a:ext cx="3657600" cy="54864"/>
          </a:xfrm>
          <a:prstGeom prst="roundRect">
            <a:avLst>
              <a:gd name="adj" fmla="val 50000"/>
            </a:avLst>
          </a:prstGeom>
          <a:solidFill>
            <a:srgbClr val="FF6B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诚实守信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道德与法治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58968" y="1216152"/>
            <a:ext cx="2798064" cy="1901952"/>
          </a:xfrm>
          <a:prstGeom prst="donut">
            <a:avLst/>
          </a:prstGeom>
          <a:solidFill>
            <a:srgbClr val="FF6B6B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83326" y="1311250"/>
            <a:ext cx="2549347" cy="1711757"/>
          </a:xfrm>
          <a:prstGeom prst="donut">
            <a:avLst/>
          </a:prstGeom>
          <a:solidFill>
            <a:srgbClr val="FFB347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07685" y="1406347"/>
            <a:ext cx="2300630" cy="1521562"/>
          </a:xfrm>
          <a:prstGeom prst="donut">
            <a:avLst/>
          </a:prstGeom>
          <a:solidFill>
            <a:srgbClr val="FFD54F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832043" y="1501445"/>
            <a:ext cx="2051914" cy="1331366"/>
          </a:xfrm>
          <a:prstGeom prst="donut">
            <a:avLst/>
          </a:prstGeom>
          <a:solidFill>
            <a:srgbClr val="81C784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56402" y="1596542"/>
            <a:ext cx="1803197" cy="1141171"/>
          </a:xfrm>
          <a:prstGeom prst="donut">
            <a:avLst/>
          </a:prstGeom>
          <a:solidFill>
            <a:srgbClr val="64B5F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0" y="1691640"/>
            <a:ext cx="1554480" cy="950976"/>
          </a:xfrm>
          <a:prstGeom prst="donut">
            <a:avLst/>
          </a:prstGeom>
          <a:solidFill>
            <a:srgbClr val="CE93D8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58968" y="2048256"/>
            <a:ext cx="777240" cy="475488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79792" y="2048256"/>
            <a:ext cx="777240" cy="475488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课前互动卡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小朋友们，你们有没有遇到过这样的情况：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和好朋友约好了见面，但突然想去做别的事？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你最后是怎么选择的呢？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「真心话大冒险」：老师说出一个场景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小朋友们用 👍 表示同意、👎 表示不同意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看看大家的想法是不是一样！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6F0FA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13448" y="1097280"/>
            <a:ext cx="1243584" cy="950976"/>
          </a:xfrm>
          <a:prstGeom prst="oval">
            <a:avLst/>
          </a:prstGeom>
          <a:solidFill>
            <a:srgbClr val="7EB8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929384"/>
            <a:ext cx="373075" cy="373075"/>
          </a:xfrm>
          <a:prstGeom prst="oval">
            <a:avLst/>
          </a:prstGeom>
          <a:solidFill>
            <a:srgbClr val="7EB8E0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68896" y="1216152"/>
            <a:ext cx="932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199D4"/>
                </a:solidFill>
              </a:rPr>
              <a:t>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925312" y="1810512"/>
            <a:ext cx="683971" cy="683971"/>
          </a:xfrm>
          <a:prstGeom prst="oval">
            <a:avLst/>
          </a:prstGeom>
          <a:solidFill>
            <a:srgbClr val="FFB3C6"/>
          </a:solidFill>
          <a:ln w="19050">
            <a:solidFill>
              <a:srgbClr val="E999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49670" y="2333549"/>
            <a:ext cx="435254" cy="1181405"/>
          </a:xfrm>
          <a:prstGeom prst="roundRect">
            <a:avLst>
              <a:gd name="adj" fmla="val 10504"/>
            </a:avLst>
          </a:prstGeom>
          <a:solidFill>
            <a:srgbClr val="FFB3C6"/>
          </a:solidFill>
          <a:ln/>
        </p:spPr>
      </p:sp>
      <p:sp>
        <p:nvSpPr>
          <p:cNvPr id="11" name="Shape 9"/>
          <p:cNvSpPr/>
          <p:nvPr/>
        </p:nvSpPr>
        <p:spPr>
          <a:xfrm>
            <a:off x="6484925" y="1572768"/>
            <a:ext cx="186538" cy="777240"/>
          </a:xfrm>
          <a:prstGeom prst="roundRect">
            <a:avLst>
              <a:gd name="adj" fmla="val 14706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111850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360566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049670" y="2048256"/>
            <a:ext cx="435254" cy="186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知道「诚实守信」是什么意思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明白为什么要这样做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学会从小事开始实践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让我们一起变成更棒的小朋友吧！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0F3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25312" y="1216152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🌟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458968" y="1453896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79792" y="1335024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90688" y="2167128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614416" y="2404872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900000">
            <a:off x="5614416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8A4B8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900000">
            <a:off x="6298387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900000">
            <a:off x="6982358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B3C6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900000">
            <a:off x="7666330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知识讲解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听老师讲一个小故事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小花是个一年级的小姑娘，她答应帮妈妈浇花。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下午好朋友叫她去踢球，小花想了想，还是先浇完花再去的。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妈妈回来看到花开了，高兴地说："小花真是个守信用的好孩子！"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你觉得小花做得对吗？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3118104"/>
            <a:ext cx="3108960" cy="356616"/>
          </a:xfrm>
          <a:prstGeom prst="roundRect">
            <a:avLst>
              <a:gd name="adj" fmla="val 25641"/>
            </a:avLst>
          </a:prstGeom>
          <a:solidFill>
            <a:srgbClr val="A8E6C1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68896" y="1453896"/>
            <a:ext cx="373075" cy="1664208"/>
          </a:xfrm>
          <a:prstGeom prst="roundRect">
            <a:avLst>
              <a:gd name="adj" fmla="val 14706"/>
            </a:avLst>
          </a:prstGeom>
          <a:solidFill>
            <a:srgbClr val="A5D3A3"/>
          </a:solidFill>
          <a:ln/>
        </p:spPr>
      </p:sp>
      <p:sp>
        <p:nvSpPr>
          <p:cNvPr id="8" name="Shape 6"/>
          <p:cNvSpPr/>
          <p:nvPr/>
        </p:nvSpPr>
        <p:spPr>
          <a:xfrm>
            <a:off x="6391656" y="1097280"/>
            <a:ext cx="1865376" cy="1307592"/>
          </a:xfrm>
          <a:prstGeom prst="oval">
            <a:avLst/>
          </a:prstGeom>
          <a:solidFill>
            <a:srgbClr val="7DC9A0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702552" y="907085"/>
            <a:ext cx="1399032" cy="1069848"/>
          </a:xfrm>
          <a:prstGeom prst="oval">
            <a:avLst/>
          </a:prstGeom>
          <a:solidFill>
            <a:srgbClr val="A8E6C1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52237" y="2095805"/>
            <a:ext cx="435254" cy="435254"/>
          </a:xfrm>
          <a:prstGeom prst="oval">
            <a:avLst/>
          </a:prstGeom>
          <a:solidFill>
            <a:srgbClr val="FFB3C6"/>
          </a:solidFill>
          <a:ln w="19050">
            <a:solidFill>
              <a:srgbClr val="E9991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14416" y="2404872"/>
            <a:ext cx="310896" cy="870509"/>
          </a:xfrm>
          <a:prstGeom prst="roundRect">
            <a:avLst>
              <a:gd name="adj" fmla="val 11765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236208" y="2167128"/>
            <a:ext cx="404165" cy="404165"/>
          </a:xfrm>
          <a:prstGeom prst="oval">
            <a:avLst/>
          </a:prstGeom>
          <a:solidFill>
            <a:srgbClr val="A8D4F5"/>
          </a:solidFill>
          <a:ln w="19050">
            <a:solidFill>
              <a:srgbClr val="6A6D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98387" y="2452421"/>
            <a:ext cx="279806" cy="777240"/>
          </a:xfrm>
          <a:prstGeom prst="roundRect">
            <a:avLst>
              <a:gd name="adj" fmla="val 13072"/>
            </a:avLst>
          </a:prstGeom>
          <a:solidFill>
            <a:srgbClr val="A8D4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活动设计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课堂活动时间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三个人一组，分别扮演"守信的小朋友"和"不守信的小朋友"，演一个生活小场景。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活动二：诚信树 🌳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每做到一件守信的事，就在大树图片上贴一片树叶，看看我们班的诚信树能长多高！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6F0FA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2523744"/>
            <a:ext cx="3108960" cy="950976"/>
          </a:xfrm>
          <a:prstGeom prst="roundRect">
            <a:avLst>
              <a:gd name="adj" fmla="val 9615"/>
            </a:avLst>
          </a:prstGeom>
          <a:solidFill>
            <a:srgbClr val="DAEEF9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14416" y="2476195"/>
            <a:ext cx="2487168" cy="142646"/>
          </a:xfrm>
          <a:prstGeom prst="roundRect">
            <a:avLst>
              <a:gd name="adj" fmla="val 19231"/>
            </a:avLst>
          </a:prstGeom>
          <a:solidFill>
            <a:srgbClr val="5199D4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097280"/>
            <a:ext cx="466344" cy="1545336"/>
          </a:xfrm>
          <a:prstGeom prst="roundRect">
            <a:avLst>
              <a:gd name="adj" fmla="val 9804"/>
            </a:avLst>
          </a:prstGeom>
          <a:solidFill>
            <a:srgbClr val="5199D4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946136" y="1097280"/>
            <a:ext cx="466344" cy="1545336"/>
          </a:xfrm>
          <a:prstGeom prst="roundRect">
            <a:avLst>
              <a:gd name="adj" fmla="val 9804"/>
            </a:avLst>
          </a:prstGeom>
          <a:solidFill>
            <a:srgbClr val="5199D4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236208" y="1929384"/>
            <a:ext cx="435254" cy="435254"/>
          </a:xfrm>
          <a:prstGeom prst="oval">
            <a:avLst/>
          </a:prstGeom>
          <a:solidFill>
            <a:srgbClr val="FFB3C6"/>
          </a:solidFill>
          <a:ln/>
        </p:spPr>
      </p:sp>
      <p:sp>
        <p:nvSpPr>
          <p:cNvPr id="11" name="Shape 9"/>
          <p:cNvSpPr/>
          <p:nvPr/>
        </p:nvSpPr>
        <p:spPr>
          <a:xfrm>
            <a:off x="6298387" y="2262226"/>
            <a:ext cx="310896" cy="683971"/>
          </a:xfrm>
          <a:prstGeom prst="roundRect">
            <a:avLst>
              <a:gd name="adj" fmla="val 11765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7013448" y="2000707"/>
            <a:ext cx="404165" cy="404165"/>
          </a:xfrm>
          <a:prstGeom prst="oval">
            <a:avLst/>
          </a:prstGeom>
          <a:solidFill>
            <a:srgbClr val="A8D4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075627" y="2309774"/>
            <a:ext cx="279806" cy="621792"/>
          </a:xfrm>
          <a:prstGeom prst="roundRect">
            <a:avLst>
              <a:gd name="adj" fmla="val 13072"/>
            </a:avLst>
          </a:prstGeom>
          <a:solidFill>
            <a:srgbClr val="A8D4F5"/>
          </a:solidFill>
          <a:ln/>
        </p:spPr>
      </p:sp>
      <p:sp>
        <p:nvSpPr>
          <p:cNvPr id="14" name="Text 12"/>
          <p:cNvSpPr/>
          <p:nvPr/>
        </p:nvSpPr>
        <p:spPr>
          <a:xfrm>
            <a:off x="6702552" y="1335024"/>
            <a:ext cx="3108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3520" y="3611880"/>
            <a:ext cx="3108960" cy="320040"/>
          </a:xfrm>
          <a:prstGeom prst="roundRect">
            <a:avLst>
              <a:gd name="adj" fmla="val 22857"/>
            </a:avLst>
          </a:prstGeom>
          <a:solidFill>
            <a:srgbClr val="7EB8E0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3611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课堂互动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举手回答时间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问题1：你有没有答应过别人一件事然后做到了？当时是什么感觉？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问题2：如果答应了做不到，应该怎么办呢？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问题3：你觉得守信的小朋友会交到更多朋友吗？为什么？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勇敢说出你的想法吧！老师会竖起大拇指表扬你！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0F3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13448" y="1097280"/>
            <a:ext cx="1243584" cy="950976"/>
          </a:xfrm>
          <a:prstGeom prst="oval">
            <a:avLst/>
          </a:prstGeom>
          <a:solidFill>
            <a:srgbClr val="F8A4B8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929384"/>
            <a:ext cx="373075" cy="373075"/>
          </a:xfrm>
          <a:prstGeom prst="oval">
            <a:avLst/>
          </a:prstGeom>
          <a:solidFill>
            <a:srgbClr val="F8A4B8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68896" y="1216152"/>
            <a:ext cx="932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8A"/>
                </a:solidFill>
              </a:rPr>
              <a:t>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925312" y="1810512"/>
            <a:ext cx="683971" cy="683971"/>
          </a:xfrm>
          <a:prstGeom prst="oval">
            <a:avLst/>
          </a:prstGeom>
          <a:solidFill>
            <a:srgbClr val="FFB3C6"/>
          </a:solidFill>
          <a:ln w="19050">
            <a:solidFill>
              <a:srgbClr val="E999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49670" y="2333549"/>
            <a:ext cx="435254" cy="1181405"/>
          </a:xfrm>
          <a:prstGeom prst="roundRect">
            <a:avLst>
              <a:gd name="adj" fmla="val 10504"/>
            </a:avLst>
          </a:prstGeom>
          <a:solidFill>
            <a:srgbClr val="FFB3C6"/>
          </a:solidFill>
          <a:ln/>
        </p:spPr>
      </p:sp>
      <p:sp>
        <p:nvSpPr>
          <p:cNvPr id="11" name="Shape 9"/>
          <p:cNvSpPr/>
          <p:nvPr/>
        </p:nvSpPr>
        <p:spPr>
          <a:xfrm>
            <a:off x="6484925" y="1572768"/>
            <a:ext cx="186538" cy="777240"/>
          </a:xfrm>
          <a:prstGeom prst="roundRect">
            <a:avLst>
              <a:gd name="adj" fmla="val 14706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111850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360566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049670" y="2048256"/>
            <a:ext cx="435254" cy="186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💭 小组讨论时间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和同桌一起想一想：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如果大家都说话不算数，世界会变成什么样？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比如：约好一起玩没人来、借的东西不还、说好的事做不到……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讨论2分钟后，每组派一个代表来分享你们的想法吧！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25312" y="2167128"/>
            <a:ext cx="1865376" cy="713232"/>
          </a:xfrm>
          <a:prstGeom prst="oval">
            <a:avLst/>
          </a:prstGeom>
          <a:solidFill>
            <a:srgbClr val="D4EFA6">
              <a:alpha val="70000"/>
            </a:srgbClr>
          </a:solidFill>
          <a:ln w="19050">
            <a:solidFill>
              <a:srgbClr val="A5D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58968" y="1929384"/>
            <a:ext cx="466344" cy="466344"/>
          </a:xfrm>
          <a:prstGeom prst="oval">
            <a:avLst/>
          </a:prstGeom>
          <a:solidFill>
            <a:srgbClr val="FFB3C6"/>
          </a:solidFill>
          <a:ln/>
        </p:spPr>
      </p:sp>
      <p:sp>
        <p:nvSpPr>
          <p:cNvPr id="8" name="Shape 6"/>
          <p:cNvSpPr/>
          <p:nvPr/>
        </p:nvSpPr>
        <p:spPr>
          <a:xfrm>
            <a:off x="5552237" y="2286000"/>
            <a:ext cx="279806" cy="621792"/>
          </a:xfrm>
          <a:prstGeom prst="roundRect">
            <a:avLst>
              <a:gd name="adj" fmla="val 13072"/>
            </a:avLst>
          </a:prstGeom>
          <a:solidFill>
            <a:srgbClr val="FFB3C6"/>
          </a:solidFill>
          <a:ln/>
        </p:spPr>
      </p:sp>
      <p:sp>
        <p:nvSpPr>
          <p:cNvPr id="9" name="Shape 7"/>
          <p:cNvSpPr/>
          <p:nvPr/>
        </p:nvSpPr>
        <p:spPr>
          <a:xfrm>
            <a:off x="6609283" y="1572768"/>
            <a:ext cx="466344" cy="466344"/>
          </a:xfrm>
          <a:prstGeom prst="oval">
            <a:avLst/>
          </a:prstGeom>
          <a:solidFill>
            <a:srgbClr val="A8D4F5"/>
          </a:solidFill>
          <a:ln/>
        </p:spPr>
      </p:sp>
      <p:sp>
        <p:nvSpPr>
          <p:cNvPr id="10" name="Shape 8"/>
          <p:cNvSpPr/>
          <p:nvPr/>
        </p:nvSpPr>
        <p:spPr>
          <a:xfrm>
            <a:off x="6702552" y="1929384"/>
            <a:ext cx="279806" cy="621792"/>
          </a:xfrm>
          <a:prstGeom prst="roundRect">
            <a:avLst>
              <a:gd name="adj" fmla="val 13072"/>
            </a:avLst>
          </a:prstGeom>
          <a:solidFill>
            <a:srgbClr val="A8D4F5"/>
          </a:solidFill>
          <a:ln/>
        </p:spPr>
      </p:sp>
      <p:sp>
        <p:nvSpPr>
          <p:cNvPr id="11" name="Shape 9"/>
          <p:cNvSpPr/>
          <p:nvPr/>
        </p:nvSpPr>
        <p:spPr>
          <a:xfrm>
            <a:off x="7635240" y="1929384"/>
            <a:ext cx="466344" cy="466344"/>
          </a:xfrm>
          <a:prstGeom prst="oval">
            <a:avLst/>
          </a:prstGeom>
          <a:solidFill>
            <a:srgbClr val="C4B5FD"/>
          </a:solidFill>
          <a:ln/>
        </p:spPr>
      </p:sp>
      <p:sp>
        <p:nvSpPr>
          <p:cNvPr id="12" name="Shape 10"/>
          <p:cNvSpPr/>
          <p:nvPr/>
        </p:nvSpPr>
        <p:spPr>
          <a:xfrm>
            <a:off x="7728509" y="2286000"/>
            <a:ext cx="279806" cy="621792"/>
          </a:xfrm>
          <a:prstGeom prst="roundRect">
            <a:avLst>
              <a:gd name="adj" fmla="val 13072"/>
            </a:avLst>
          </a:prstGeom>
          <a:solidFill>
            <a:srgbClr val="C4B5FD"/>
          </a:solidFill>
          <a:ln/>
        </p:spPr>
      </p:sp>
      <p:sp>
        <p:nvSpPr>
          <p:cNvPr id="13" name="Shape 11"/>
          <p:cNvSpPr/>
          <p:nvPr/>
        </p:nvSpPr>
        <p:spPr>
          <a:xfrm>
            <a:off x="5769864" y="1097280"/>
            <a:ext cx="777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63133" y="1144829"/>
            <a:ext cx="6217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3520" y="3611880"/>
            <a:ext cx="3108960" cy="320040"/>
          </a:xfrm>
          <a:prstGeom prst="roundRect">
            <a:avLst>
              <a:gd name="adj" fmla="val 22857"/>
            </a:avLst>
          </a:prstGeom>
          <a:solidFill>
            <a:srgbClr val="7DC9A0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3611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价值引导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「诚实守信」是一种很棒的品质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它让朋友之间更信任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让家人之间更温暖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让我们的班级更团结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就像一颗小种子 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6F0FA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25312" y="1216152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🌟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458968" y="1453896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79792" y="1335024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90688" y="2167128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614416" y="2404872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900000">
            <a:off x="5614416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7EB8E0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900000">
            <a:off x="6298387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5199D4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900000">
            <a:off x="6982358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A8D4F5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900000">
            <a:off x="7666330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小练习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小练习时间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练习1：判断对错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老师说一句话，你认为对的举手 ✋，错的摇头 🙅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练习2：涂色游戏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打开练习册第12页，把"正确做法"涂上绿色，"错误做法"涂上红色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练习3：说一句话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0F3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614416" y="1810512"/>
            <a:ext cx="1399032" cy="1188720"/>
          </a:xfrm>
          <a:prstGeom prst="roundRect">
            <a:avLst>
              <a:gd name="adj" fmla="val 4615"/>
            </a:avLst>
          </a:prstGeom>
          <a:solidFill>
            <a:srgbClr val="FFF9C4">
              <a:alpha val="8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13932" y="1810512"/>
            <a:ext cx="9144" cy="1188720"/>
          </a:xfrm>
          <a:prstGeom prst="line">
            <a:avLst/>
          </a:prstGeom>
          <a:noFill/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9864" y="2048256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53835" y="2048256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94222" y="2286000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78194" y="2286000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18581" y="2523744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702552" y="2523744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24344" y="1572768"/>
            <a:ext cx="186538" cy="1307592"/>
          </a:xfrm>
          <a:prstGeom prst="roundRect">
            <a:avLst>
              <a:gd name="adj" fmla="val 9804"/>
            </a:avLst>
          </a:prstGeom>
          <a:solidFill>
            <a:srgbClr val="FFD54F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262165" y="2809037"/>
            <a:ext cx="310896" cy="285293"/>
          </a:xfrm>
          <a:prstGeom prst="triangle">
            <a:avLst/>
          </a:prstGeom>
          <a:solidFill>
            <a:srgbClr val="FFAB91"/>
          </a:solidFill>
          <a:ln/>
        </p:spPr>
      </p:sp>
      <p:sp>
        <p:nvSpPr>
          <p:cNvPr id="16" name="Text 14"/>
          <p:cNvSpPr/>
          <p:nvPr/>
        </p:nvSpPr>
        <p:spPr>
          <a:xfrm>
            <a:off x="7479792" y="121615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✏️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家校联动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回家小任务
今天学了「诚实守信」，快跟爸爸妈妈说一说吧！
亲子互动小建议：
和爸爸妈妈一起制定一个"家庭约定"
比如：每天按时完成作业、帮忙做家务
把约定写在便利贴上贴在冰箱上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25312" y="1929384"/>
            <a:ext cx="1865376" cy="1188720"/>
          </a:xfrm>
          <a:prstGeom prst="roundRect">
            <a:avLst>
              <a:gd name="adj" fmla="val 6154"/>
            </a:avLst>
          </a:prstGeom>
          <a:solidFill>
            <a:srgbClr val="FFF9C4">
              <a:alpha val="80000"/>
            </a:srgbClr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14416" y="1335024"/>
            <a:ext cx="2487168" cy="832104"/>
          </a:xfrm>
          <a:prstGeom prst="triangle">
            <a:avLst/>
          </a:prstGeom>
          <a:solidFill>
            <a:srgbClr val="FFAB91">
              <a:alpha val="70000"/>
            </a:srgbClr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47104" y="2404872"/>
            <a:ext cx="621792" cy="713232"/>
          </a:xfrm>
          <a:prstGeom prst="roundRect">
            <a:avLst>
              <a:gd name="adj" fmla="val 8824"/>
            </a:avLst>
          </a:prstGeom>
          <a:solidFill>
            <a:srgbClr val="8D6E63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2095805"/>
            <a:ext cx="373075" cy="373075"/>
          </a:xfrm>
          <a:prstGeom prst="roundRect">
            <a:avLst>
              <a:gd name="adj" fmla="val 9804"/>
            </a:avLst>
          </a:prstGeom>
          <a:solidFill>
            <a:srgbClr val="B3E5FC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31075" y="2095805"/>
            <a:ext cx="373075" cy="373075"/>
          </a:xfrm>
          <a:prstGeom prst="roundRect">
            <a:avLst>
              <a:gd name="adj" fmla="val 9804"/>
            </a:avLst>
          </a:prstGeom>
          <a:solidFill>
            <a:srgbClr val="B3E5FC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35240" y="1097280"/>
            <a:ext cx="621792" cy="621792"/>
          </a:xfrm>
          <a:prstGeom prst="oval">
            <a:avLst/>
          </a:prstGeom>
          <a:solidFill>
            <a:srgbClr val="FFD54F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0" y="3118104"/>
            <a:ext cx="3108960" cy="356616"/>
          </a:xfrm>
          <a:prstGeom prst="roundRect">
            <a:avLst>
              <a:gd name="adj" fmla="val 25641"/>
            </a:avLst>
          </a:prstGeom>
          <a:solidFill>
            <a:srgbClr val="A8E6C1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474720" y="66294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🌟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926080" y="8915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7772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15773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108960" y="18059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900000">
            <a:off x="3108960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7EB8E0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900000">
            <a:off x="3913632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5199D4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900000">
            <a:off x="4718304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A8D4F5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900000">
            <a:off x="5522976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今天的主题是「undefined」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期待下次见面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undefined - undefined</dc:title>
  <dc:subject>PptxGenJS Presentation</dc:subject>
  <dc:creator>道德与法治课件平台</dc:creator>
  <cp:lastModifiedBy>道德与法治课件平台</cp:lastModifiedBy>
  <cp:revision>1</cp:revision>
  <dcterms:created xsi:type="dcterms:W3CDTF">2026-04-25T00:07:05Z</dcterms:created>
  <dcterms:modified xsi:type="dcterms:W3CDTF">2026-04-25T00:07:05Z</dcterms:modified>
</cp:coreProperties>
</file>