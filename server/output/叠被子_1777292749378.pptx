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200400" cy="3200400"/>
          </a:xfrm>
          <a:prstGeom prst="oval">
            <a:avLst/>
          </a:prstGeom>
          <a:solidFill>
            <a:srgbClr val="F8A4B8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182880"/>
            <a:ext cx="2560320" cy="2560320"/>
          </a:xfrm>
          <a:prstGeom prst="oval">
            <a:avLst/>
          </a:prstGeom>
          <a:solidFill>
            <a:srgbClr val="FF6B8A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457200" y="3474720"/>
            <a:ext cx="1828800" cy="1828800"/>
          </a:xfrm>
          <a:prstGeom prst="oval">
            <a:avLst/>
          </a:prstGeom>
          <a:solidFill>
            <a:srgbClr val="FFB3C6">
              <a:alpha val="6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0368" y="292608"/>
            <a:ext cx="3621024" cy="3072384"/>
          </a:xfrm>
          <a:prstGeom prst="roundRect">
            <a:avLst>
              <a:gd name="adj" fmla="val 5357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04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365760"/>
            <a:ext cx="3474720" cy="292608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365760"/>
            <a:ext cx="3474720" cy="2926080"/>
          </a:xfrm>
          <a:prstGeom prst="roundRect">
            <a:avLst>
              <a:gd name="adj" fmla="val 4688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457200" y="1463040"/>
            <a:ext cx="137160" cy="1463040"/>
          </a:xfrm>
          <a:prstGeom prst="roundRect">
            <a:avLst>
              <a:gd name="adj" fmla="val 46667"/>
            </a:avLst>
          </a:prstGeom>
          <a:solidFill>
            <a:srgbClr val="FF6B8A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1280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3600" dirty="0"/>
          </a:p>
        </p:txBody>
      </p:sp>
      <p:sp>
        <p:nvSpPr>
          <p:cNvPr id="10" name="Shape 7"/>
          <p:cNvSpPr/>
          <p:nvPr/>
        </p:nvSpPr>
        <p:spPr>
          <a:xfrm>
            <a:off x="777240" y="2468880"/>
            <a:ext cx="2926080" cy="457200"/>
          </a:xfrm>
          <a:prstGeom prst="roundRect">
            <a:avLst>
              <a:gd name="adj" fmla="val 24000"/>
            </a:avLst>
          </a:prstGeom>
          <a:solidFill>
            <a:srgbClr val="F8A4B8">
              <a:alpha val="2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4688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· 道德与法治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063240"/>
            <a:ext cx="3657600" cy="45720"/>
          </a:xfrm>
          <a:prstGeom prst="roundRect">
            <a:avLst>
              <a:gd name="adj" fmla="val 40000"/>
            </a:avLst>
          </a:prstGeom>
          <a:solidFill>
            <a:srgbClr val="FF6B8A">
              <a:alpha val="6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2004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6E7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快乐学习 健康成长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4617720"/>
            <a:ext cx="9144000" cy="411480"/>
          </a:xfrm>
          <a:prstGeom prst="roundRect">
            <a:avLst/>
          </a:prstGeom>
          <a:solidFill>
            <a:srgbClr val="F8A4B8">
              <a:alpha val="25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一年级上 道德与法治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——快乐学习每一天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ver_12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课前暖场·叠被子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🤔 暖场提问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小朋友们，你们每天早上起床后，第一件事会做什么呢？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有没有自己叠被子的经历？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觉得叠被子难不难呀？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🎲 热身小游戏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「叠被子小达人」游戏：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老师在黑板上写出叠被子的步骤，小朋友们按顺序排好队，一个接一个说出正确的做法。全部说对的同学可以得到一颗小星星！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ro_7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🌈 今天的故事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今天学什么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今天我们要学习：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学会叠被子的正确方法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明白好习惯要从身边小事做起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养成每天坚持的好习惯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准备好了吗？开始今天的快乐之旅吧！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objective_48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学习目标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主题故事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叠被子的正确步骤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第①步：先把被子四角对齐，铺平整 🛏️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第②步：把被子竖向对折一次，变成长条形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第③步：再横向对折一次，变成方块形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第④步：双手压平，边角对齐，整整齐齐放好 ✅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小诀窍：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每次对折都要从中间往两边压平哦！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content_57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📖 故事时间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课堂活动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活动一：角色扮演 🎭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请3-4位小朋友，演一演关于「叠被子」的小场景。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全班一起来当"小评委"！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活动二：主题绘画 🖌️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把你理解的「叠被子」画出来，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贴在教室的"成长墙"上！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activity_58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🎨 活动时间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想一想·说一说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举手回答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问题1：你在生活中遇到过关于「叠被子」的事吗？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能和大家分享一下吗？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问题2：你觉得「叠被子」难不难做到？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有什么好办法吗？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问题3：如果好朋友做不到「叠被子」，你会怎么帮他？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interaction_65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🙋 一起来回答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小组讨论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小组讨论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和同桌一起讨论2分钟：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你觉得如果每个人都能做到「叠被子」，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我们的班级会变成什么样？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我们的家会变成什么样？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每组派一个代表来分享你们的想法！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discussion_71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讨论时间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EB8E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我们学到了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今天我们学到了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叠被子看起来是一件小事，但坚持做好每一件小事，就是在让自己变得更棒！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良好的习惯就像一颗小种子🌱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每天浇灌它，它会慢慢长成参天大树！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6316"/>
            </a:avLst>
          </a:prstGeom>
          <a:solidFill>
            <a:srgbClr val="E6F0FA"/>
          </a:solidFill>
          <a:ln/>
          <a:effectLst>
            <a:outerShdw sx="100000" sy="100000" kx="0" ky="0" algn="bl" rotWithShape="0" blurRad="76200" dist="25400" dir="16200000">
              <a:srgbClr val="888888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41848" y="1220724"/>
            <a:ext cx="1691640" cy="1691640"/>
          </a:xfrm>
          <a:prstGeom prst="oval">
            <a:avLst/>
          </a:prstGeom>
          <a:solidFill>
            <a:srgbClr val="7EB8E0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656832" y="2002536"/>
            <a:ext cx="1353312" cy="1353312"/>
          </a:xfrm>
          <a:prstGeom prst="oval">
            <a:avLst/>
          </a:prstGeom>
          <a:solidFill>
            <a:srgbClr val="5199D4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5811012" y="2263140"/>
            <a:ext cx="1014984" cy="1014984"/>
          </a:xfrm>
          <a:prstGeom prst="oval">
            <a:avLst/>
          </a:prstGeom>
          <a:solidFill>
            <a:srgbClr val="A8D4F5">
              <a:alpha val="45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303520" y="1741932"/>
            <a:ext cx="338328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🌟</a:t>
            </a:r>
            <a:endParaRPr lang="en-US" sz="5200" dirty="0"/>
          </a:p>
        </p:txBody>
      </p:sp>
      <p:sp>
        <p:nvSpPr>
          <p:cNvPr id="10" name="Shape 8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EB8E0">
              <a:alpha val="2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🌟 我们学到了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5199D4">
              <a:alpha val="7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D4F5">
              <a:alpha val="7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EB8E0">
              <a:alpha val="7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8A4B8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动手练一练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动手练一练
练习1：情景判断
老师说出一个场景，
你认为对的竖起👍，错的摇头🙅
练习2：完成一句话
「如果我做到了叠被子，我会觉得_____」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FFF0F3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exercise_82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F8A4B8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F8A4B8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3E4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动手练习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FF6B8A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FFB3C6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F8A4B8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6E7B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18288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7DC9A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19456"/>
            <a:ext cx="804672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带回家的任务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11480" y="960120"/>
            <a:ext cx="46634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带回家的任务
今天我们学了「叠被子」
快跟爸爸妈妈说说你学到了什么！
亲子小活动：
今晚请爸爸妈妈陪你一起练习「叠被子」
看看谁做得又快又整齐！
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30368" y="886968"/>
            <a:ext cx="3529584" cy="2752344"/>
          </a:xfrm>
          <a:prstGeom prst="roundRect">
            <a:avLst>
              <a:gd name="adj" fmla="val 5980"/>
            </a:avLst>
          </a:prstGeom>
          <a:solidFill>
            <a:srgbClr val="E8F8F0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6" name="Image 0" descr="C:\Users\11842\WorkBuddy\20260421143710\morality-platform\server\img-cache\slide_home_link_88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3383280" cy="2606040"/>
          </a:xfrm>
          <a:prstGeom prst="ellipse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303520" y="960120"/>
            <a:ext cx="3383280" cy="2606040"/>
          </a:xfrm>
          <a:prstGeom prst="roundRect">
            <a:avLst>
              <a:gd name="adj" fmla="val 5263"/>
            </a:avLst>
          </a:prstGeom>
          <a:solidFill>
            <a:srgbClr val="7DC9A0">
              <a:alpha val="12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5303520" y="3657600"/>
            <a:ext cx="3383280" cy="365760"/>
          </a:xfrm>
          <a:prstGeom prst="roundRect">
            <a:avLst>
              <a:gd name="adj" fmla="val 25000"/>
            </a:avLst>
          </a:prstGeom>
          <a:solidFill>
            <a:srgbClr val="7DC9A0">
              <a:alpha val="28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5303520" y="36576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5A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带回家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3840480" y="4709160"/>
            <a:ext cx="182880" cy="182880"/>
          </a:xfrm>
          <a:prstGeom prst="oval">
            <a:avLst/>
          </a:prstGeom>
          <a:solidFill>
            <a:srgbClr val="4CAF7D">
              <a:alpha val="7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4709160"/>
            <a:ext cx="182880" cy="182880"/>
          </a:xfrm>
          <a:prstGeom prst="oval">
            <a:avLst/>
          </a:prstGeom>
          <a:solidFill>
            <a:srgbClr val="A8E6C1">
              <a:alpha val="7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120640" y="4709160"/>
            <a:ext cx="182880" cy="182880"/>
          </a:xfrm>
          <a:prstGeom prst="oval">
            <a:avLst/>
          </a:prstGeom>
          <a:solidFill>
            <a:srgbClr val="7DC9A0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8F7B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2743200" cy="2743200"/>
          </a:xfrm>
          <a:prstGeom prst="oval">
            <a:avLst/>
          </a:prstGeom>
          <a:solidFill>
            <a:srgbClr val="7EB8E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2286000" cy="2286000"/>
          </a:xfrm>
          <a:prstGeom prst="oval">
            <a:avLst/>
          </a:prstGeom>
          <a:solidFill>
            <a:srgbClr val="A8D4F5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852928" y="384048"/>
            <a:ext cx="3438144" cy="2523744"/>
          </a:xfrm>
          <a:prstGeom prst="roundRect">
            <a:avLst>
              <a:gd name="adj" fmla="val 6522"/>
            </a:avLst>
          </a:prstGeom>
          <a:solidFill>
            <a:srgbClr val="E6F0FA"/>
          </a:solidFill>
          <a:ln/>
          <a:effectLst>
            <a:outerShdw sx="100000" sy="100000" kx="0" ky="0" algn="bl" rotWithShape="0" blurRad="101600" dist="38100" dir="16200000">
              <a:srgbClr val="888888">
                <a:alpha val="12000"/>
              </a:srgbClr>
            </a:outerShdw>
          </a:effectLst>
        </p:spPr>
      </p:sp>
      <p:pic>
        <p:nvPicPr>
          <p:cNvPr id="5" name="Image 0" descr="C:\Users\11842\WorkBuddy\20260421143710\morality-platform\server\img-cache\slide_summary_938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457200"/>
            <a:ext cx="3291840" cy="2377440"/>
          </a:xfrm>
          <a:prstGeom prst="ellipse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926080" y="457200"/>
            <a:ext cx="3291840" cy="2377440"/>
          </a:xfrm>
          <a:prstGeom prst="roundRect">
            <a:avLst>
              <a:gd name="adj" fmla="val 5769"/>
            </a:avLst>
          </a:prstGeom>
          <a:solidFill>
            <a:srgbClr val="7EB8E0">
              <a:alpha val="12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28803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D4E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谢谢小朋友们！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914400" y="3566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今天我们学习了「叠被子」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40690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F8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下次课见 🌈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F8F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叠被子 - </dc:title>
  <dc:subject>PptxGenJS Presentation</dc:subject>
  <dc:creator>道德与法治课件平台</dc:creator>
  <cp:lastModifiedBy>道德与法治课件平台</cp:lastModifiedBy>
  <cp:revision>1</cp:revision>
  <dcterms:created xsi:type="dcterms:W3CDTF">2026-04-27T12:25:49Z</dcterms:created>
  <dcterms:modified xsi:type="dcterms:W3CDTF">2026-04-27T12:25:49Z</dcterms:modified>
</cp:coreProperties>
</file>